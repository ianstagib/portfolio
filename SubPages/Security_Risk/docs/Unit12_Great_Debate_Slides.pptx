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b4571a8-fadb-307c-375d-080fe9715cc2}">
          <p14:sldIdLst>
            <p14:sldId id="256"/>
          </p14:sldIdLst>
        </p14:section>
        <p14:section name="Argument" id="{d69e103e-06f5-41f7-3696-8c989fce0d4a}">
          <p14:sldIdLst>
            <p14:sldId id="257"/>
            <p14:sldId id="258"/>
            <p14:sldId id="259"/>
            <p14:sldId id="260"/>
          </p14:sldIdLst>
        </p14:section>
        <p14:section name="Implications" id="{b33ed1eb-a881-7ca8-385c-a2665298243a}">
          <p14:sldIdLst>
            <p14:sldId id="261"/>
            <p14:sldId id="262"/>
          </p14:sldIdLst>
        </p14:section>
        <p14:section name="Close" id="{bc8d4d40-64a9-3fc0-d6ec-ffc90032d782}">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Mean days from disclosure to first exploitation</a:t>
            </a:r>
          </a:p>
        </c:rich>
      </c:tx>
      <c:layout/>
      <c:overlay val="0"/>
    </c:title>
    <c:autoTitleDeleted val="0"/>
    <c:plotArea>
      <c:layout/>
      <c:barChart>
        <c:barDir val="col"/>
        <c:grouping val="clustered"/>
        <c:varyColors val="0"/>
        <c:ser>
          <c:idx val="0"/>
          <c:order val="0"/>
          <c:tx>
            <c:strRef>
              <c:f>Sheet1!$B$1</c:f>
              <c:strCache>
                <c:ptCount val="1"/>
                <c:pt idx="0">
                  <c:v>Mean time-to-exploit (days)</c:v>
                </c:pt>
              </c:strCache>
            </c:strRef>
          </c:tx>
          <c:spPr>
            <a:solidFill>
              <a:srgbClr val="EB6834"/>
            </a:solidFill>
            <a:effectLst/>
          </c:spPr>
          <c:invertIfNegative val="0"/>
          <c:dLbls>
            <c:numFmt formatCode="#,##0" sourceLinked="0"/>
            <c:txPr>
              <a:bodyPr/>
              <a:lstStyle/>
              <a:p>
                <a:pPr>
                  <a:defRPr b="0" i="0" strike="noStrike" sz="1400" u="none">
                    <a:solidFill>
                      <a:srgbClr val="1B1F24"/>
                    </a:solidFill>
                    <a:latin typeface="+mn-lt"/>
                  </a:defRPr>
                </a:pPr>
              </a:p>
            </c:txPr>
            <c:showLegendKey val="0"/>
            <c:showVal val="1"/>
            <c:showCatName val="0"/>
            <c:showSerName val="0"/>
            <c:showPercent val="0"/>
            <c:showBubbleSize val="0"/>
            <c:showLeaderLines val="0"/>
          </c:dLbls>
          <c:cat>
            <c:multiLvlStrRef>
              <c:f>Sheet1!$A$2:$A$6</c:f>
              <c:multiLvlStrCache>
                <c:ptCount val="5"/>
                <c:lvl>
                  <c:pt idx="0">
                    <c:v>2018–19</c:v>
                  </c:pt>
                  <c:pt idx="1">
                    <c:v>2020–21</c:v>
                  </c:pt>
                  <c:pt idx="2">
                    <c:v>2021–22</c:v>
                  </c:pt>
                  <c:pt idx="3">
                    <c:v>2023</c:v>
                  </c:pt>
                  <c:pt idx="4">
                    <c:v>2025 (est.)</c:v>
                  </c:pt>
                </c:lvl>
              </c:multiLvlStrCache>
            </c:multiLvlStrRef>
          </c:cat>
          <c:val>
            <c:numRef>
              <c:f>Sheet1!$B$2:$B$6</c:f>
              <c:numCache>
                <c:formatCode>General</c:formatCode>
                <c:ptCount val="5"/>
                <c:pt idx="0">
                  <c:v>63</c:v>
                </c:pt>
                <c:pt idx="1">
                  <c:v>44</c:v>
                </c:pt>
                <c:pt idx="2">
                  <c:v>32</c:v>
                </c:pt>
                <c:pt idx="3">
                  <c:v>5</c:v>
                </c:pt>
                <c:pt idx="4">
                  <c:v>-7</c:v>
                </c:pt>
              </c:numCache>
            </c:numRef>
          </c:val>
        </c:ser>
        <c:dLbls>
          <c:numFmt formatCode="#,##0" sourceLinked="0"/>
          <c:txPr>
            <a:bodyPr/>
            <a:lstStyle/>
            <a:p>
              <a:pPr>
                <a:defRPr b="0" i="0" strike="noStrike" sz="1400" u="none">
                  <a:solidFill>
                    <a:srgbClr val="1B1F24"/>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70"/>
          <c:min val="-10"/>
        </c:scaling>
        <c:delete val="0"/>
        <c:axPos val="l"/>
        <c:majorGridlines>
          <c:spPr>
            <a:ln w="9525"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24"/>
                </a:solidFill>
                <a:latin typeface="+mn-lt"/>
              </a:defRPr>
            </a:pPr>
            <a:r>
              <a:rPr sz="1400" b="0" i="0" u="none" strike="noStrike">
                <a:solidFill>
                  <a:srgbClr val="1B1F24"/>
                </a:solidFill>
                <a:latin typeface="+mn-lt"/>
              </a:rPr>
              <a:t>n-days exploited before the patch is installed (%)</a:t>
            </a:r>
          </a:p>
        </c:rich>
      </c:tx>
      <c:layout/>
      <c:overlay val="0"/>
    </c:title>
    <c:autoTitleDeleted val="0"/>
    <c:plotArea>
      <c:layout/>
      <c:lineChart>
        <c:varyColors val="0"/>
        <c:ser>
          <c:idx val="0"/>
          <c:order val="0"/>
          <c:tx>
            <c:strRef>
              <c:f>Sheet1!$B$1</c:f>
              <c:strCache>
                <c:ptCount val="1"/>
                <c:pt idx="0">
                  <c:v>Manual (median 32 days)</c:v>
                </c:pt>
              </c:strCache>
            </c:strRef>
          </c:tx>
          <c:spPr>
            <a:solidFill>
              <a:srgbClr val="C23B3B"/>
            </a:solidFill>
            <a:ln w="38100" cap="flat">
              <a:solidFill>
                <a:srgbClr val="C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23B3B"/>
              </a:solidFill>
              <a:ln w="9525" cap="flat">
                <a:solidFill>
                  <a:srgbClr val="C23B3B"/>
                </a:solidFill>
                <a:prstDash val="solid"/>
                <a:round/>
              </a:ln>
              <a:effectLst/>
            </c:spPr>
          </c:marker>
          <c:cat>
            <c:multiLvlStrRef>
              <c:f>Sheet1!$A$2:$A$5</c:f>
              <c:multiLvlStrCache>
                <c:ptCount val="4"/>
                <c:lvl>
                  <c:pt idx="0">
                    <c:v>2023 speed</c:v>
                  </c:pt>
                  <c:pt idx="1">
                    <c:v>×2</c:v>
                  </c:pt>
                  <c:pt idx="2">
                    <c:v>×4</c:v>
                  </c:pt>
                  <c:pt idx="3">
                    <c:v>×8</c:v>
                  </c:pt>
                </c:lvl>
              </c:multiLvlStrCache>
            </c:multiLvlStrRef>
          </c:cat>
          <c:val>
            <c:numRef>
              <c:f>Sheet1!$B$2:$B$5</c:f>
              <c:numCache>
                <c:formatCode>General</c:formatCode>
                <c:ptCount val="4"/>
                <c:pt idx="0">
                  <c:v>54.8</c:v>
                </c:pt>
                <c:pt idx="1">
                  <c:v>67.6</c:v>
                </c:pt>
                <c:pt idx="2">
                  <c:v>80.1</c:v>
                </c:pt>
                <c:pt idx="3">
                  <c:v>90.1</c:v>
                </c:pt>
              </c:numCache>
            </c:numRef>
          </c:val>
          <c:smooth val="0"/>
        </c:ser>
        <c:ser>
          <c:idx val="1"/>
          <c:order val="1"/>
          <c:tx>
            <c:strRef>
              <c:f>Sheet1!$C$1</c:f>
              <c:strCache>
                <c:ptCount val="1"/>
                <c:pt idx="0">
                  <c:v>Cyber Essentials (≤14 days)</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Sheet1!$A$2:$A$5</c:f>
              <c:multiLvlStrCache>
                <c:ptCount val="4"/>
                <c:lvl>
                  <c:pt idx="0">
                    <c:v>2023 speed</c:v>
                  </c:pt>
                  <c:pt idx="1">
                    <c:v>×2</c:v>
                  </c:pt>
                  <c:pt idx="2">
                    <c:v>×4</c:v>
                  </c:pt>
                  <c:pt idx="3">
                    <c:v>×8</c:v>
                  </c:pt>
                </c:lvl>
              </c:multiLvlStrCache>
            </c:multiLvlStrRef>
          </c:cat>
          <c:val>
            <c:numRef>
              <c:f>Sheet1!$C$2:$C$5</c:f>
              <c:numCache>
                <c:formatCode>General</c:formatCode>
                <c:ptCount val="4"/>
                <c:pt idx="0">
                  <c:v>26.2</c:v>
                </c:pt>
                <c:pt idx="1">
                  <c:v>36</c:v>
                </c:pt>
                <c:pt idx="2">
                  <c:v>47.6</c:v>
                </c:pt>
                <c:pt idx="3">
                  <c:v>58.9</c:v>
                </c:pt>
              </c:numCache>
            </c:numRef>
          </c:val>
          <c:smooth val="0"/>
        </c:ser>
        <c:ser>
          <c:idx val="2"/>
          <c:order val="2"/>
          <c:tx>
            <c:strRef>
              <c:f>Sheet1!$D$1</c:f>
              <c:strCache>
                <c:ptCount val="1"/>
                <c:pt idx="0">
                  <c:v>Automatic updates (≤2 days)</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Sheet1!$A$2:$A$5</c:f>
              <c:multiLvlStrCache>
                <c:ptCount val="4"/>
                <c:lvl>
                  <c:pt idx="0">
                    <c:v>2023 speed</c:v>
                  </c:pt>
                  <c:pt idx="1">
                    <c:v>×2</c:v>
                  </c:pt>
                  <c:pt idx="2">
                    <c:v>×4</c:v>
                  </c:pt>
                  <c:pt idx="3">
                    <c:v>×8</c:v>
                  </c:pt>
                </c:lvl>
              </c:multiLvlStrCache>
            </c:multiLvlStrRef>
          </c:cat>
          <c:val>
            <c:numRef>
              <c:f>Sheet1!$D$2:$D$5</c:f>
              <c:numCache>
                <c:formatCode>General</c:formatCode>
                <c:ptCount val="4"/>
                <c:pt idx="0">
                  <c:v>10</c:v>
                </c:pt>
                <c:pt idx="1">
                  <c:v>14</c:v>
                </c:pt>
                <c:pt idx="2">
                  <c:v>20.2</c:v>
                </c:pt>
                <c:pt idx="3">
                  <c:v>27.7</c:v>
                </c:pt>
              </c:numCache>
            </c:numRef>
          </c:val>
          <c:smooth val="0"/>
        </c:ser>
        <c:ser>
          <c:idx val="3"/>
          <c:order val="3"/>
          <c:tx>
            <c:strRef>
              <c:f>Sheet1!$E$1</c:f>
              <c:strCache>
                <c:ptCount val="1"/>
                <c:pt idx="0">
                  <c:v>Supplier-managed SaaS (≤1 day)</c:v>
                </c:pt>
              </c:strCache>
            </c:strRef>
          </c:tx>
          <c:spPr>
            <a:solidFill>
              <a:srgbClr val="1BAF7A"/>
            </a:solidFill>
            <a:ln w="381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1BAF7A"/>
              </a:solidFill>
              <a:ln w="9525" cap="flat">
                <a:solidFill>
                  <a:srgbClr val="1BAF7A"/>
                </a:solidFill>
                <a:prstDash val="solid"/>
                <a:round/>
              </a:ln>
              <a:effectLst/>
            </c:spPr>
          </c:marker>
          <c:cat>
            <c:multiLvlStrRef>
              <c:f>Sheet1!$A$2:$A$5</c:f>
              <c:multiLvlStrCache>
                <c:ptCount val="4"/>
                <c:lvl>
                  <c:pt idx="0">
                    <c:v>2023 speed</c:v>
                  </c:pt>
                  <c:pt idx="1">
                    <c:v>×2</c:v>
                  </c:pt>
                  <c:pt idx="2">
                    <c:v>×4</c:v>
                  </c:pt>
                  <c:pt idx="3">
                    <c:v>×8</c:v>
                  </c:pt>
                </c:lvl>
              </c:multiLvlStrCache>
            </c:multiLvlStrRef>
          </c:cat>
          <c:val>
            <c:numRef>
              <c:f>Sheet1!$E$2:$E$5</c:f>
              <c:numCache>
                <c:formatCode>General</c:formatCode>
                <c:ptCount val="4"/>
                <c:pt idx="0">
                  <c:v>6.2</c:v>
                </c:pt>
                <c:pt idx="1">
                  <c:v>9.9</c:v>
                </c:pt>
                <c:pt idx="2">
                  <c:v>14</c:v>
                </c:pt>
                <c:pt idx="3">
                  <c:v>20.2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4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motion is that AI-enabled automation, on both the attacking and the defending side, will be the most influential trend in security and risk management over the next five years. I am going to argue it from evidence, not from hype, and I will finish with the weaknesses in our own case, because a trend we cannot measure is a trend we cannot manage. About ten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Speed: the time from a vulnerability becoming public to it being exploited has collapsed. Scale: attackers are already using AI to run most of a campaign. Delegation: when exploitation runs faster than people can respond, the decision about what to do has to be made in advance and handed to a machine. That last point is why this is a risk management trend and not just a technology trend. Every other trend you will hear about today, supplier concentration, regulation, human factors, is being reshaped by these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Mandiant has tracked time-to-exploit since 2018. The average was 63 days in 2018 and 2019, 32 days in 2021 and 2022, five days in 2023, and M-Trends 2026 estimates minus seven days for 2025: on average, exploitation now starts before the patch is out. Seven in ten exploited vulnerabilities in 2023 were zero-days. A fair challenge, which I will come back to, is that this average mixes zero-days and n-days, so it moves with the mix as well as with speed. Even so, of the n-days, more than half were exploited within a month. The window that monthly patching relied on has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In November 2025 Anthropic reported disrupting what it called the first reported AI-orchestrated espionage campaign: the AI carried out 80 to 90 per cent of the work against around thirty targets, with a handful of successes. Note the limitation they report themselves: the model sometimes hallucinated credentials. M-Trends 2026 reports that the median hand-off from an initial access broker to the next group fell from over eight hours in 2022 to 22 seconds in 2025. That is a machine-to-machine market. And the NCSC's assessment to 2027 expects a divide between systems that keep pace with AI-enabled threats and those that do not. Small businesses are on the wrong side of that divide unless their suppliers carry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mean for an ordinary business? I built a small model from Mandiant's n-day timings and four patching policies. Patching by hand, with a median delay of 32 days, loses the race for about 55 per cent of n-days even at 2023 speed. The Cyber Essentials 14-day rule loses about a quarter. Automatic updates lose about one in ten, and a supplier-managed service about one in sixteen. If exploitation gets four times faster, only the automated options stay near one in five. To keep the loss at one in ten you need every patch on within two days now, and within half a day later. Defenders are pushed into automation whether they choose it or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a risk management trend? Nicol and colleagues listed five hard problems for a science of security in 2012. Three of them become day-to-day risk management once decisions are automated. Metrics: a machine optimises whatever it is paid for. When I rebuilt Ridley's autonomous defence experiment in Unit 11, the trained agent never chose to isolate a node because isolating cost more in its reward, and a one-line rule beat it. The reward was a risk decision nobody owned. Human behaviour: the hard question is when people should step in. Resilience: if seven in ten exploits arrive before a patch exists, the job is to contain and recover, not just to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side will make good arguments, so let me take them in turn. Supplier concentration matters, and in Unit 11 I argued it will hit small firms sooner. But concentration is the channel through which AI arrives: a small retailer will meet AI attacks and AI defences through its email, shop and accounting providers. Regulation is following the threat, and NIST CSF 2.0's Govern function is exactly where ownership of automated decisions will be written down. Human factors: AI is making phishing and impersonation cheaper, so that trend is being accelerated by ours. Post-quantum migration is important but planned over a decade, so it will not change most risk decisions in the next five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should be honest about our own case. First, the headline time-to-exploit is an average over zero-days and n-days, so it can go negative because the mix changed, without any patch being exploited faster. Second, very few claims about AI in defence are tested against a simple rule; when I tested Ridley's, the rule won. Third, the AI-run campaign Anthropic described made mistakes. None of this weakens the motion. It tells us what managing this trend involves: measuring it properly, testing automated tools against baselines, and deciding who owns their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AI-enabled automation is the most influential trend because it changes the clock that every other risk process runs on, and it moves risk decisions out of meetings and into rules written in advance. Our three asks: measure it against simple baselines; give every automated decision an owner; and plan to survive compromise rather than only to prevent 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Harvard references with links are on the Unit 12 page of my e-portfolio.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42416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931920"/>
            <a:ext cx="1042416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Unit 12 · The Great Debate · Security and Risk Management</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Unit 12 · The Great Debate · Security and Risk Management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1B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10058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Unit 12 · The Great Debate · Security and Risk Management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CFC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424160" cy="1828800"/>
          </a:xfrm>
          <a:prstGeom prst="rect">
            <a:avLst/>
          </a:prstGeom>
          <a:noFill/>
          <a:ln/>
        </p:spPr>
        <p:txBody>
          <a:bodyPr wrap="square" lIns="0" tIns="0" rIns="0" bIns="0" rtlCol="0" anchor="b"/>
          <a:lstStyle/>
          <a:p>
            <a:pPr algn="l" indent="0" marL="0">
              <a:buNone/>
            </a:pPr>
            <a:r>
              <a:rPr lang="en-US" sz="4000" b="1" dirty="0">
                <a:solidFill>
                  <a:schemeClr val="bg1"/>
                </a:solidFill>
              </a:rPr>
              <a:t>AI-enabled automation will be the most influential trend in security and risk management to 2031</a:t>
            </a:r>
            <a:endParaRPr lang="en-US" sz="4000" dirty="0"/>
          </a:p>
        </p:txBody>
      </p:sp>
      <p:sp>
        <p:nvSpPr>
          <p:cNvPr id="3" name="Text 0"/>
          <p:cNvSpPr/>
          <p:nvPr>
            <p:ph idx="101" type="body" hasCustomPrompt="1"/>
          </p:nvPr>
        </p:nvSpPr>
        <p:spPr>
          <a:xfrm>
            <a:off x="548640" y="3931920"/>
            <a:ext cx="10424160" cy="1097280"/>
          </a:xfrm>
          <a:prstGeom prst="rect">
            <a:avLst/>
          </a:prstGeom>
          <a:noFill/>
          <a:ln/>
        </p:spPr>
        <p:txBody>
          <a:bodyPr wrap="square" lIns="0" tIns="0" rIns="0" bIns="0" rtlCol="0" anchor="t"/>
          <a:lstStyle/>
          <a:p>
            <a:pPr indent="0" marL="0">
              <a:buNone/>
            </a:pPr>
            <a:r>
              <a:rPr lang="en-US" sz="1800" dirty="0">
                <a:solidFill>
                  <a:schemeClr val="bg2"/>
                </a:solidFill>
              </a:rPr>
              <a:t>The Great Debate, Unit 12  ·  Ian Stevens</a:t>
            </a:r>
            <a:endParaRPr lang="en-US" sz="1800" dirty="0"/>
          </a:p>
        </p:txBody>
      </p:sp>
      <p:pic>
        <p:nvPicPr>
          <p:cNvPr id="4" name="Motif icon" descr="preencoded.png">    </p:cNvPr>
          <p:cNvPicPr>
            <a:picLocks noChangeAspect="1"/>
          </p:cNvPicPr>
          <p:nvPr/>
        </p:nvPicPr>
        <p:blipFill>
          <a:blip r:embed="rId1"/>
          <a:stretch>
            <a:fillRect/>
          </a:stretch>
        </p:blipFill>
        <p:spPr>
          <a:xfrm>
            <a:off x="548640" y="73152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Our case: AI changes the speed of risk, so it changes who makes risk decisions</a:t>
            </a:r>
            <a:endParaRPr lang="en-US" sz="3200" dirty="0"/>
          </a:p>
        </p:txBody>
      </p:sp>
      <p:sp>
        <p:nvSpPr>
          <p:cNvPr id="3" name="Pillar 1 card"/>
          <p:cNvSpPr/>
          <p:nvPr/>
        </p:nvSpPr>
        <p:spPr>
          <a:xfrm>
            <a:off x="548640" y="1600200"/>
            <a:ext cx="3520440" cy="3383280"/>
          </a:xfrm>
          <a:prstGeom prst="roundRect">
            <a:avLst>
              <a:gd name="adj" fmla="val 3243"/>
            </a:avLst>
          </a:prstGeom>
          <a:solidFill>
            <a:srgbClr val="F1F2F0"/>
          </a:solidFill>
          <a:ln w="12700">
            <a:solidFill>
              <a:srgbClr val="F1F2F0"/>
            </a:solidFill>
            <a:prstDash val="solid"/>
          </a:ln>
        </p:spPr>
      </p:sp>
      <p:sp>
        <p:nvSpPr>
          <p:cNvPr id="4" name="Pillar 1 circle"/>
          <p:cNvSpPr/>
          <p:nvPr/>
        </p:nvSpPr>
        <p:spPr>
          <a:xfrm>
            <a:off x="868680" y="1920240"/>
            <a:ext cx="868680" cy="868680"/>
          </a:xfrm>
          <a:prstGeom prst="ellipse">
            <a:avLst/>
          </a:prstGeom>
          <a:solidFill>
            <a:srgbClr val="EB6834"/>
          </a:solidFill>
          <a:ln w="12700">
            <a:solidFill>
              <a:srgbClr val="EB6834"/>
            </a:solidFill>
            <a:prstDash val="solid"/>
          </a:ln>
        </p:spPr>
      </p:sp>
      <p:pic>
        <p:nvPicPr>
          <p:cNvPr id="5" name="Pillar 1 icon" descr="preencoded.png">    </p:cNvPr>
          <p:cNvPicPr>
            <a:picLocks noChangeAspect="1"/>
          </p:cNvPicPr>
          <p:nvPr/>
        </p:nvPicPr>
        <p:blipFill>
          <a:blip r:embed="rId1"/>
          <a:stretch>
            <a:fillRect/>
          </a:stretch>
        </p:blipFill>
        <p:spPr>
          <a:xfrm>
            <a:off x="1085850" y="2137410"/>
            <a:ext cx="434340" cy="434340"/>
          </a:xfrm>
          <a:prstGeom prst="rect">
            <a:avLst/>
          </a:prstGeom>
        </p:spPr>
      </p:pic>
      <p:sp>
        <p:nvSpPr>
          <p:cNvPr id="6" name="Pillar 1 heading"/>
          <p:cNvSpPr txBox="1"/>
          <p:nvPr/>
        </p:nvSpPr>
        <p:spPr>
          <a:xfrm>
            <a:off x="868680" y="2971800"/>
            <a:ext cx="29260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Speed</a:t>
            </a:r>
            <a:endParaRPr lang="en-US" sz="2400" dirty="0"/>
          </a:p>
        </p:txBody>
      </p:sp>
      <p:sp>
        <p:nvSpPr>
          <p:cNvPr id="7" name="Pillar 1 text"/>
          <p:cNvSpPr txBox="1"/>
          <p:nvPr/>
        </p:nvSpPr>
        <p:spPr>
          <a:xfrm>
            <a:off x="868680" y="3566160"/>
            <a:ext cx="2926080" cy="1737360"/>
          </a:xfrm>
          <a:prstGeom prst="rect">
            <a:avLst/>
          </a:prstGeom>
          <a:noFill/>
          <a:ln/>
        </p:spPr>
        <p:txBody>
          <a:bodyPr wrap="square" lIns="0" tIns="0" rIns="0" bIns="0" rtlCol="0" anchor="t"/>
          <a:lstStyle/>
          <a:p>
            <a:pPr indent="0" marL="0">
              <a:buNone/>
            </a:pPr>
            <a:r>
              <a:rPr lang="en-US" sz="1600" dirty="0">
                <a:solidFill>
                  <a:schemeClr val="tx2"/>
                </a:solidFill>
              </a:rPr>
              <a:t>Exploitation now runs ahead of patching. The window defenders relied on has closed.</a:t>
            </a:r>
            <a:endParaRPr lang="en-US" sz="1600" dirty="0"/>
          </a:p>
        </p:txBody>
      </p:sp>
      <p:sp>
        <p:nvSpPr>
          <p:cNvPr id="8" name="Pillar 2 card"/>
          <p:cNvSpPr/>
          <p:nvPr/>
        </p:nvSpPr>
        <p:spPr>
          <a:xfrm>
            <a:off x="4343400" y="1600200"/>
            <a:ext cx="3520440" cy="3383280"/>
          </a:xfrm>
          <a:prstGeom prst="roundRect">
            <a:avLst>
              <a:gd name="adj" fmla="val 3243"/>
            </a:avLst>
          </a:prstGeom>
          <a:solidFill>
            <a:srgbClr val="F1F2F0"/>
          </a:solidFill>
          <a:ln w="12700">
            <a:solidFill>
              <a:srgbClr val="F1F2F0"/>
            </a:solidFill>
            <a:prstDash val="solid"/>
          </a:ln>
        </p:spPr>
      </p:sp>
      <p:sp>
        <p:nvSpPr>
          <p:cNvPr id="9" name="Pillar 2 circle"/>
          <p:cNvSpPr/>
          <p:nvPr/>
        </p:nvSpPr>
        <p:spPr>
          <a:xfrm>
            <a:off x="4663440" y="1920240"/>
            <a:ext cx="868680" cy="868680"/>
          </a:xfrm>
          <a:prstGeom prst="ellipse">
            <a:avLst/>
          </a:prstGeom>
          <a:solidFill>
            <a:srgbClr val="1BAF7A"/>
          </a:solidFill>
          <a:ln w="12700">
            <a:solidFill>
              <a:srgbClr val="1BAF7A"/>
            </a:solidFill>
            <a:prstDash val="solid"/>
          </a:ln>
        </p:spPr>
      </p:sp>
      <p:pic>
        <p:nvPicPr>
          <p:cNvPr id="10" name="Pillar 2 icon" descr="preencoded.png">    </p:cNvPr>
          <p:cNvPicPr>
            <a:picLocks noChangeAspect="1"/>
          </p:cNvPicPr>
          <p:nvPr/>
        </p:nvPicPr>
        <p:blipFill>
          <a:blip r:embed="rId2"/>
          <a:stretch>
            <a:fillRect/>
          </a:stretch>
        </p:blipFill>
        <p:spPr>
          <a:xfrm>
            <a:off x="4880610" y="2137410"/>
            <a:ext cx="434340" cy="434340"/>
          </a:xfrm>
          <a:prstGeom prst="rect">
            <a:avLst/>
          </a:prstGeom>
        </p:spPr>
      </p:pic>
      <p:sp>
        <p:nvSpPr>
          <p:cNvPr id="11" name="Pillar 2 heading"/>
          <p:cNvSpPr txBox="1"/>
          <p:nvPr/>
        </p:nvSpPr>
        <p:spPr>
          <a:xfrm>
            <a:off x="4663440" y="2971800"/>
            <a:ext cx="29260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Scale</a:t>
            </a:r>
            <a:endParaRPr lang="en-US" sz="2400" dirty="0"/>
          </a:p>
        </p:txBody>
      </p:sp>
      <p:sp>
        <p:nvSpPr>
          <p:cNvPr id="12" name="Pillar 2 text"/>
          <p:cNvSpPr txBox="1"/>
          <p:nvPr/>
        </p:nvSpPr>
        <p:spPr>
          <a:xfrm>
            <a:off x="4663440" y="3566160"/>
            <a:ext cx="2926080" cy="1737360"/>
          </a:xfrm>
          <a:prstGeom prst="rect">
            <a:avLst/>
          </a:prstGeom>
          <a:noFill/>
          <a:ln/>
        </p:spPr>
        <p:txBody>
          <a:bodyPr wrap="square" lIns="0" tIns="0" rIns="0" bIns="0" rtlCol="0" anchor="t"/>
          <a:lstStyle/>
          <a:p>
            <a:pPr indent="0" marL="0">
              <a:buNone/>
            </a:pPr>
            <a:r>
              <a:rPr lang="en-US" sz="1600" dirty="0">
                <a:solidFill>
                  <a:schemeClr val="tx2"/>
                </a:solidFill>
              </a:rPr>
              <a:t>Attackers already automate most of a campaign. One operator can run many intrusions at once.</a:t>
            </a:r>
            <a:endParaRPr lang="en-US" sz="1600" dirty="0"/>
          </a:p>
        </p:txBody>
      </p:sp>
      <p:sp>
        <p:nvSpPr>
          <p:cNvPr id="13" name="Pillar 3 card"/>
          <p:cNvSpPr/>
          <p:nvPr/>
        </p:nvSpPr>
        <p:spPr>
          <a:xfrm>
            <a:off x="8138160" y="1600200"/>
            <a:ext cx="3520440" cy="3383280"/>
          </a:xfrm>
          <a:prstGeom prst="roundRect">
            <a:avLst>
              <a:gd name="adj" fmla="val 3243"/>
            </a:avLst>
          </a:prstGeom>
          <a:solidFill>
            <a:srgbClr val="F1F2F0"/>
          </a:solidFill>
          <a:ln w="12700">
            <a:solidFill>
              <a:srgbClr val="F1F2F0"/>
            </a:solidFill>
            <a:prstDash val="solid"/>
          </a:ln>
        </p:spPr>
      </p:sp>
      <p:sp>
        <p:nvSpPr>
          <p:cNvPr id="14" name="Pillar 3 circle"/>
          <p:cNvSpPr/>
          <p:nvPr/>
        </p:nvSpPr>
        <p:spPr>
          <a:xfrm>
            <a:off x="8458200" y="1920240"/>
            <a:ext cx="868680" cy="868680"/>
          </a:xfrm>
          <a:prstGeom prst="ellipse">
            <a:avLst/>
          </a:prstGeom>
          <a:solidFill>
            <a:srgbClr val="7C5CD6"/>
          </a:solidFill>
          <a:ln w="12700">
            <a:solidFill>
              <a:srgbClr val="7C5CD6"/>
            </a:solidFill>
            <a:prstDash val="solid"/>
          </a:ln>
        </p:spPr>
      </p:sp>
      <p:pic>
        <p:nvPicPr>
          <p:cNvPr id="15" name="Pillar 3 icon" descr="preencoded.png">    </p:cNvPr>
          <p:cNvPicPr>
            <a:picLocks noChangeAspect="1"/>
          </p:cNvPicPr>
          <p:nvPr/>
        </p:nvPicPr>
        <p:blipFill>
          <a:blip r:embed="rId3"/>
          <a:stretch>
            <a:fillRect/>
          </a:stretch>
        </p:blipFill>
        <p:spPr>
          <a:xfrm>
            <a:off x="8675370" y="2137410"/>
            <a:ext cx="434340" cy="434340"/>
          </a:xfrm>
          <a:prstGeom prst="rect">
            <a:avLst/>
          </a:prstGeom>
        </p:spPr>
      </p:pic>
      <p:sp>
        <p:nvSpPr>
          <p:cNvPr id="16" name="Pillar 3 heading"/>
          <p:cNvSpPr txBox="1"/>
          <p:nvPr/>
        </p:nvSpPr>
        <p:spPr>
          <a:xfrm>
            <a:off x="8458200" y="2971800"/>
            <a:ext cx="2926080" cy="5486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Delegation</a:t>
            </a:r>
            <a:endParaRPr lang="en-US" sz="2400" dirty="0"/>
          </a:p>
        </p:txBody>
      </p:sp>
      <p:sp>
        <p:nvSpPr>
          <p:cNvPr id="17" name="Pillar 3 text"/>
          <p:cNvSpPr txBox="1"/>
          <p:nvPr/>
        </p:nvSpPr>
        <p:spPr>
          <a:xfrm>
            <a:off x="8458200" y="3566160"/>
            <a:ext cx="2926080" cy="1737360"/>
          </a:xfrm>
          <a:prstGeom prst="rect">
            <a:avLst/>
          </a:prstGeom>
          <a:noFill/>
          <a:ln/>
        </p:spPr>
        <p:txBody>
          <a:bodyPr wrap="square" lIns="0" tIns="0" rIns="0" bIns="0" rtlCol="0" anchor="t"/>
          <a:lstStyle/>
          <a:p>
            <a:pPr indent="0" marL="0">
              <a:buNone/>
            </a:pPr>
            <a:r>
              <a:rPr lang="en-US" sz="1600" dirty="0">
                <a:solidFill>
                  <a:schemeClr val="tx2"/>
                </a:solidFill>
              </a:rPr>
              <a:t>When people cannot act in time, risk decisions are written in advance into rules, thresholds and rewards.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Speed: average time-to-exploit fell from 63 days to below zero</a:t>
            </a:r>
            <a:endParaRPr lang="en-US" sz="3200" dirty="0"/>
          </a:p>
        </p:txBody>
      </p:sp>
      <p:graphicFrame>
        <p:nvGraphicFramePr>
          <p:cNvPr id="3" name="TTE chart" descr=""/>
          <p:cNvGraphicFramePr/>
          <p:nvPr/>
        </p:nvGraphicFramePr>
        <p:xfrm>
          <a:off x="548640" y="1417320"/>
          <a:ext cx="6949440" cy="4297680"/>
        </p:xfrm>
        <a:graphic xmlns:a="http://schemas.openxmlformats.org/drawingml/2006/main">
          <a:graphicData uri="http://schemas.openxmlformats.org/drawingml/2006/chart">
            <c:chart xmlns:c="http://schemas.openxmlformats.org/drawingml/2006/chart" r:id="rId1"/>
          </a:graphicData>
        </a:graphic>
      </p:graphicFrame>
      <p:sp>
        <p:nvSpPr>
          <p:cNvPr id="4" name="Stat callouts"/>
          <p:cNvSpPr txBox="1"/>
          <p:nvPr/>
        </p:nvSpPr>
        <p:spPr>
          <a:xfrm>
            <a:off x="7955280" y="1554480"/>
            <a:ext cx="3657600" cy="41148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70%</a:t>
            </a:r>
            <a:endParaRPr lang="en-US" sz="5400" dirty="0"/>
          </a:p>
          <a:p>
            <a:pPr indent="0" marL="0">
              <a:buNone/>
            </a:pPr>
            <a:r>
              <a:rPr lang="en-US" sz="1600" dirty="0">
                <a:solidFill>
                  <a:schemeClr val="tx1"/>
                </a:solidFill>
              </a:rPr>
              <a:t>of vulnerabilities exploited in 2023 were zero-days: attacked before any patch existed</a:t>
            </a:r>
            <a:endParaRPr lang="en-US" sz="5400" dirty="0"/>
          </a:p>
          <a:p>
            <a:pPr indent="0" marL="0">
              <a:buNone/>
            </a:pPr>
            <a:r>
              <a:rPr lang="en-US" sz="1000" dirty="0">
                <a:solidFill>
                  <a:srgbClr val="000000"/>
                </a:solidFill>
              </a:rPr>
              <a:t> </a:t>
            </a:r>
            <a:endParaRPr lang="en-US" sz="5400" dirty="0"/>
          </a:p>
          <a:p>
            <a:pPr indent="0" marL="0">
              <a:buNone/>
            </a:pPr>
            <a:r>
              <a:rPr lang="en-US" sz="5400" b="1" dirty="0">
                <a:solidFill>
                  <a:schemeClr val="accent1"/>
                </a:solidFill>
                <a:latin typeface="Cambria" pitchFamily="34" charset="0"/>
                <a:ea typeface="Cambria" pitchFamily="34" charset="-122"/>
                <a:cs typeface="Cambria" pitchFamily="34" charset="-120"/>
              </a:rPr>
              <a:t>56%</a:t>
            </a:r>
            <a:endParaRPr lang="en-US" sz="5400" dirty="0"/>
          </a:p>
          <a:p>
            <a:pPr indent="0" marL="0">
              <a:buNone/>
            </a:pPr>
            <a:r>
              <a:rPr lang="en-US" sz="1600" dirty="0">
                <a:solidFill>
                  <a:schemeClr val="tx1"/>
                </a:solidFill>
              </a:rPr>
              <a:t>of the rest were exploited within a month of disclosure</a:t>
            </a:r>
            <a:endParaRPr lang="en-US" sz="5400" dirty="0"/>
          </a:p>
        </p:txBody>
      </p:sp>
      <p:sp>
        <p:nvSpPr>
          <p:cNvPr id="5" name="Source not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000" i="1" dirty="0">
                <a:solidFill>
                  <a:schemeClr val="tx2"/>
                </a:solidFill>
              </a:rPr>
              <a:t>Sources: Charrier and Weiner (2024), Mandiant analysis of 138 vulnerabilities disclosed in 2023; Kutscher (2026), M-Trends 2026 estimate for 2025.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Scale: attackers are already automating the campaign, not just the tools</a:t>
            </a:r>
            <a:endParaRPr lang="en-US" sz="3200" dirty="0"/>
          </a:p>
        </p:txBody>
      </p:sp>
      <p:sp>
        <p:nvSpPr>
          <p:cNvPr id="3" name="Scale stat 1 card"/>
          <p:cNvSpPr/>
          <p:nvPr/>
        </p:nvSpPr>
        <p:spPr>
          <a:xfrm>
            <a:off x="548640" y="1508760"/>
            <a:ext cx="11064240" cy="1280160"/>
          </a:xfrm>
          <a:prstGeom prst="roundRect">
            <a:avLst>
              <a:gd name="adj" fmla="val 7143"/>
            </a:avLst>
          </a:prstGeom>
          <a:solidFill>
            <a:srgbClr val="F1F2F0"/>
          </a:solidFill>
          <a:ln w="12700">
            <a:solidFill>
              <a:srgbClr val="F1F2F0"/>
            </a:solidFill>
            <a:prstDash val="solid"/>
          </a:ln>
        </p:spPr>
      </p:sp>
      <p:sp>
        <p:nvSpPr>
          <p:cNvPr id="4" name="Scale stat 1 number"/>
          <p:cNvSpPr txBox="1"/>
          <p:nvPr/>
        </p:nvSpPr>
        <p:spPr>
          <a:xfrm>
            <a:off x="822960" y="1508760"/>
            <a:ext cx="2743200" cy="12801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80–90%</a:t>
            </a:r>
            <a:endParaRPr lang="en-US" sz="4400" dirty="0"/>
          </a:p>
        </p:txBody>
      </p:sp>
      <p:sp>
        <p:nvSpPr>
          <p:cNvPr id="5" name="Scale stat 1 text"/>
          <p:cNvSpPr txBox="1"/>
          <p:nvPr/>
        </p:nvSpPr>
        <p:spPr>
          <a:xfrm>
            <a:off x="3749040" y="1600200"/>
            <a:ext cx="7589520" cy="1097280"/>
          </a:xfrm>
          <a:prstGeom prst="rect">
            <a:avLst/>
          </a:prstGeom>
          <a:noFill/>
          <a:ln/>
        </p:spPr>
        <p:txBody>
          <a:bodyPr wrap="square" lIns="0" tIns="0" rIns="0" bIns="0" rtlCol="0" anchor="ctr"/>
          <a:lstStyle/>
          <a:p>
            <a:pPr indent="0" marL="0">
              <a:buNone/>
            </a:pPr>
            <a:r>
              <a:rPr lang="en-US" sz="1600" dirty="0">
                <a:solidFill>
                  <a:schemeClr val="tx1"/>
                </a:solidFill>
              </a:rPr>
              <a:t>of an espionage campaign against about 30 targets was carried out by an AI agent, with people stepping in only occasionally</a:t>
            </a:r>
            <a:endParaRPr lang="en-US" sz="1600" dirty="0"/>
          </a:p>
          <a:p>
            <a:pPr indent="0" marL="0">
              <a:buNone/>
            </a:pPr>
            <a:r>
              <a:rPr lang="en-US" sz="1100" i="1" dirty="0">
                <a:solidFill>
                  <a:schemeClr val="tx2"/>
                </a:solidFill>
              </a:rPr>
              <a:t>Anthropic (2025)</a:t>
            </a:r>
            <a:endParaRPr lang="en-US" sz="1600" dirty="0"/>
          </a:p>
        </p:txBody>
      </p:sp>
      <p:sp>
        <p:nvSpPr>
          <p:cNvPr id="6" name="Scale stat 2 card"/>
          <p:cNvSpPr/>
          <p:nvPr/>
        </p:nvSpPr>
        <p:spPr>
          <a:xfrm>
            <a:off x="548640" y="2971800"/>
            <a:ext cx="11064240" cy="1280160"/>
          </a:xfrm>
          <a:prstGeom prst="roundRect">
            <a:avLst>
              <a:gd name="adj" fmla="val 7143"/>
            </a:avLst>
          </a:prstGeom>
          <a:solidFill>
            <a:srgbClr val="F1F2F0"/>
          </a:solidFill>
          <a:ln w="12700">
            <a:solidFill>
              <a:srgbClr val="F1F2F0"/>
            </a:solidFill>
            <a:prstDash val="solid"/>
          </a:ln>
        </p:spPr>
      </p:sp>
      <p:sp>
        <p:nvSpPr>
          <p:cNvPr id="7" name="Scale stat 2 number"/>
          <p:cNvSpPr txBox="1"/>
          <p:nvPr/>
        </p:nvSpPr>
        <p:spPr>
          <a:xfrm>
            <a:off x="822960" y="2971800"/>
            <a:ext cx="2743200" cy="12801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22 sec</a:t>
            </a:r>
            <a:endParaRPr lang="en-US" sz="4400" dirty="0"/>
          </a:p>
        </p:txBody>
      </p:sp>
      <p:sp>
        <p:nvSpPr>
          <p:cNvPr id="8" name="Scale stat 2 text"/>
          <p:cNvSpPr txBox="1"/>
          <p:nvPr/>
        </p:nvSpPr>
        <p:spPr>
          <a:xfrm>
            <a:off x="3749040" y="3063240"/>
            <a:ext cx="7589520" cy="1097280"/>
          </a:xfrm>
          <a:prstGeom prst="rect">
            <a:avLst/>
          </a:prstGeom>
          <a:noFill/>
          <a:ln/>
        </p:spPr>
        <p:txBody>
          <a:bodyPr wrap="square" lIns="0" tIns="0" rIns="0" bIns="0" rtlCol="0" anchor="ctr"/>
          <a:lstStyle/>
          <a:p>
            <a:pPr indent="0" marL="0">
              <a:buNone/>
            </a:pPr>
            <a:r>
              <a:rPr lang="en-US" sz="1600" dirty="0">
                <a:solidFill>
                  <a:schemeClr val="tx1"/>
                </a:solidFill>
              </a:rPr>
              <a:t>median hand-off from initial access to a second threat group in 2025, down from more than 8 hours in 2022</a:t>
            </a:r>
            <a:endParaRPr lang="en-US" sz="1600" dirty="0"/>
          </a:p>
          <a:p>
            <a:pPr indent="0" marL="0">
              <a:buNone/>
            </a:pPr>
            <a:r>
              <a:rPr lang="en-US" sz="1100" i="1" dirty="0">
                <a:solidFill>
                  <a:schemeClr val="tx2"/>
                </a:solidFill>
              </a:rPr>
              <a:t>Kutscher (2026)</a:t>
            </a:r>
            <a:endParaRPr lang="en-US" sz="1600" dirty="0"/>
          </a:p>
        </p:txBody>
      </p:sp>
      <p:sp>
        <p:nvSpPr>
          <p:cNvPr id="9" name="Scale stat 3 card"/>
          <p:cNvSpPr/>
          <p:nvPr/>
        </p:nvSpPr>
        <p:spPr>
          <a:xfrm>
            <a:off x="548640" y="4434840"/>
            <a:ext cx="11064240" cy="1280160"/>
          </a:xfrm>
          <a:prstGeom prst="roundRect">
            <a:avLst>
              <a:gd name="adj" fmla="val 7143"/>
            </a:avLst>
          </a:prstGeom>
          <a:solidFill>
            <a:srgbClr val="F1F2F0"/>
          </a:solidFill>
          <a:ln w="12700">
            <a:solidFill>
              <a:srgbClr val="F1F2F0"/>
            </a:solidFill>
            <a:prstDash val="solid"/>
          </a:ln>
        </p:spPr>
      </p:sp>
      <p:sp>
        <p:nvSpPr>
          <p:cNvPr id="10" name="Scale stat 3 number"/>
          <p:cNvSpPr txBox="1"/>
          <p:nvPr/>
        </p:nvSpPr>
        <p:spPr>
          <a:xfrm>
            <a:off x="822960" y="4434840"/>
            <a:ext cx="2743200" cy="128016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2027</a:t>
            </a:r>
            <a:endParaRPr lang="en-US" sz="4400" dirty="0"/>
          </a:p>
        </p:txBody>
      </p:sp>
      <p:sp>
        <p:nvSpPr>
          <p:cNvPr id="11" name="Scale stat 3 text"/>
          <p:cNvSpPr txBox="1"/>
          <p:nvPr/>
        </p:nvSpPr>
        <p:spPr>
          <a:xfrm>
            <a:off x="3749040" y="4526280"/>
            <a:ext cx="7589520" cy="1097280"/>
          </a:xfrm>
          <a:prstGeom prst="rect">
            <a:avLst/>
          </a:prstGeom>
          <a:noFill/>
          <a:ln/>
        </p:spPr>
        <p:txBody>
          <a:bodyPr wrap="square" lIns="0" tIns="0" rIns="0" bIns="0" rtlCol="0" anchor="ctr"/>
          <a:lstStyle/>
          <a:p>
            <a:pPr indent="0" marL="0">
              <a:buNone/>
            </a:pPr>
            <a:r>
              <a:rPr lang="en-US" sz="1600" dirty="0">
                <a:solidFill>
                  <a:schemeClr val="tx1"/>
                </a:solidFill>
              </a:rPr>
              <a:t>the NCSC expects AI to widen a ‘digital divide’ between systems that keep pace with AI-enabled threats and those that do not</a:t>
            </a:r>
            <a:endParaRPr lang="en-US" sz="1600" dirty="0"/>
          </a:p>
          <a:p>
            <a:pPr indent="0" marL="0">
              <a:buNone/>
            </a:pPr>
            <a:r>
              <a:rPr lang="en-US" sz="1100" i="1" dirty="0">
                <a:solidFill>
                  <a:schemeClr val="tx2"/>
                </a:solidFill>
              </a:rPr>
              <a:t>NCSC (2025)</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For defenders, only automated patching keeps pace as exploitation speeds up</a:t>
            </a:r>
            <a:endParaRPr lang="en-US" sz="3200" dirty="0"/>
          </a:p>
        </p:txBody>
      </p:sp>
      <p:graphicFrame>
        <p:nvGraphicFramePr>
          <p:cNvPr id="3" name="Patch race chart" descr=""/>
          <p:cNvGraphicFramePr/>
          <p:nvPr/>
        </p:nvGraphicFramePr>
        <p:xfrm>
          <a:off x="548640" y="141732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4" name="Patch race takeaway"/>
          <p:cNvSpPr txBox="1"/>
          <p:nvPr/>
        </p:nvSpPr>
        <p:spPr>
          <a:xfrm>
            <a:off x="8412480" y="1645920"/>
            <a:ext cx="3200400" cy="3931920"/>
          </a:xfrm>
          <a:prstGeom prst="rect">
            <a:avLst/>
          </a:prstGeom>
          <a:noFill/>
          <a:ln/>
        </p:spPr>
        <p:txBody>
          <a:bodyPr wrap="square" lIns="0" tIns="0" rIns="0" bIns="0" rtlCol="0" anchor="t"/>
          <a:lstStyle/>
          <a:p>
            <a:pPr indent="0" marL="0">
              <a:buNone/>
            </a:pPr>
            <a:r>
              <a:rPr lang="en-US" sz="1600" dirty="0">
                <a:solidFill>
                  <a:schemeClr val="tx1"/>
                </a:solidFill>
              </a:rPr>
              <a:t>Keeping losses to 1 n-day in 10 needs every patch installed within</a:t>
            </a:r>
            <a:endParaRPr lang="en-US" sz="1600" dirty="0"/>
          </a:p>
          <a:p>
            <a:pPr indent="0" marL="0">
              <a:buNone/>
            </a:pPr>
            <a:r>
              <a:rPr lang="en-US" sz="4400" b="1" dirty="0">
                <a:solidFill>
                  <a:schemeClr val="accent1"/>
                </a:solidFill>
                <a:latin typeface="Cambria" pitchFamily="34" charset="0"/>
                <a:ea typeface="Cambria" pitchFamily="34" charset="-122"/>
                <a:cs typeface="Cambria" pitchFamily="34" charset="-120"/>
              </a:rPr>
              <a:t>2 days</a:t>
            </a:r>
            <a:endParaRPr lang="en-US" sz="1600" dirty="0"/>
          </a:p>
          <a:p>
            <a:pPr indent="0" marL="0">
              <a:buNone/>
            </a:pPr>
            <a:r>
              <a:rPr lang="en-US" sz="1600" dirty="0">
                <a:solidFill>
                  <a:schemeClr val="tx1"/>
                </a:solidFill>
              </a:rPr>
              <a:t>at 2023 speed, and within half a day at four times that speed.</a:t>
            </a:r>
            <a:endParaRPr lang="en-US" sz="1600" dirty="0"/>
          </a:p>
          <a:p>
            <a:pPr indent="0" marL="0">
              <a:buNone/>
            </a:pPr>
            <a:r>
              <a:rPr lang="en-US" sz="1000" dirty="0">
                <a:solidFill>
                  <a:srgbClr val="000000"/>
                </a:solidFill>
              </a:rPr>
              <a:t> </a:t>
            </a:r>
            <a:endParaRPr lang="en-US" sz="1600" dirty="0"/>
          </a:p>
          <a:p>
            <a:pPr indent="0" marL="0">
              <a:buNone/>
            </a:pPr>
            <a:r>
              <a:rPr lang="en-US" sz="1800" b="1" dirty="0">
                <a:solidFill>
                  <a:schemeClr val="tx1"/>
                </a:solidFill>
              </a:rPr>
              <a:t>That is not a job for a person.</a:t>
            </a:r>
            <a:endParaRPr lang="en-US" sz="1600" dirty="0"/>
          </a:p>
        </p:txBody>
      </p:sp>
      <p:sp>
        <p:nvSpPr>
          <p:cNvPr id="5" name="Source not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000" i="1" dirty="0">
                <a:solidFill>
                  <a:schemeClr val="tx2"/>
                </a:solidFill>
              </a:rPr>
              <a:t>My model (Artefact 2): 2023 n-day timing from Charrier and Weiner (2024); policy delays are assumptions; speed-ups are scenarios, not forecasts.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Automation turns three of the ‘hard problems’ into everyday risk management</a:t>
            </a:r>
            <a:endParaRPr lang="en-US" sz="3200" dirty="0"/>
          </a:p>
        </p:txBody>
      </p:sp>
      <p:sp>
        <p:nvSpPr>
          <p:cNvPr id="3" name="Hard problem 1 circle"/>
          <p:cNvSpPr/>
          <p:nvPr/>
        </p:nvSpPr>
        <p:spPr>
          <a:xfrm>
            <a:off x="548640" y="1600200"/>
            <a:ext cx="914400" cy="914400"/>
          </a:xfrm>
          <a:prstGeom prst="ellipse">
            <a:avLst/>
          </a:prstGeom>
          <a:solidFill>
            <a:srgbClr val="EB6834"/>
          </a:solidFill>
          <a:ln w="12700">
            <a:solidFill>
              <a:srgbClr val="EB6834"/>
            </a:solidFill>
            <a:prstDash val="solid"/>
          </a:ln>
        </p:spPr>
      </p:sp>
      <p:pic>
        <p:nvPicPr>
          <p:cNvPr id="4" name="Hard problem 1 icon" descr="preencoded.png">    </p:cNvPr>
          <p:cNvPicPr>
            <a:picLocks noChangeAspect="1"/>
          </p:cNvPicPr>
          <p:nvPr/>
        </p:nvPicPr>
        <p:blipFill>
          <a:blip r:embed="rId1"/>
          <a:stretch>
            <a:fillRect/>
          </a:stretch>
        </p:blipFill>
        <p:spPr>
          <a:xfrm>
            <a:off x="777240" y="1828800"/>
            <a:ext cx="457200" cy="457200"/>
          </a:xfrm>
          <a:prstGeom prst="rect">
            <a:avLst/>
          </a:prstGeom>
        </p:spPr>
      </p:pic>
      <p:sp>
        <p:nvSpPr>
          <p:cNvPr id="5" name="Hard problem 1 heading"/>
          <p:cNvSpPr txBox="1"/>
          <p:nvPr/>
        </p:nvSpPr>
        <p:spPr>
          <a:xfrm>
            <a:off x="1737360" y="1463040"/>
            <a:ext cx="3108960" cy="11887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Metrics</a:t>
            </a:r>
            <a:endParaRPr lang="en-US" sz="2200" dirty="0"/>
          </a:p>
        </p:txBody>
      </p:sp>
      <p:sp>
        <p:nvSpPr>
          <p:cNvPr id="6" name="Hard problem 1 text"/>
          <p:cNvSpPr txBox="1"/>
          <p:nvPr/>
        </p:nvSpPr>
        <p:spPr>
          <a:xfrm>
            <a:off x="4937760" y="1463040"/>
            <a:ext cx="6675120" cy="1188720"/>
          </a:xfrm>
          <a:prstGeom prst="rect">
            <a:avLst/>
          </a:prstGeom>
          <a:noFill/>
          <a:ln/>
        </p:spPr>
        <p:txBody>
          <a:bodyPr wrap="square" lIns="0" tIns="0" rIns="0" bIns="0" rtlCol="0" anchor="ctr"/>
          <a:lstStyle/>
          <a:p>
            <a:pPr indent="0" marL="0">
              <a:buNone/>
            </a:pPr>
            <a:r>
              <a:rPr lang="en-US" sz="1600" dirty="0">
                <a:solidFill>
                  <a:schemeClr val="tx2"/>
                </a:solidFill>
              </a:rPr>
              <a:t>An automated defender optimises what it is measured on. In my Unit 11 rebuild, an agent rewarded for cheap actions never isolated a node and was beaten by a one-line rule.</a:t>
            </a:r>
            <a:endParaRPr lang="en-US" sz="1600" dirty="0"/>
          </a:p>
        </p:txBody>
      </p:sp>
      <p:sp>
        <p:nvSpPr>
          <p:cNvPr id="7" name="Hard problem 2 circle"/>
          <p:cNvSpPr/>
          <p:nvPr/>
        </p:nvSpPr>
        <p:spPr>
          <a:xfrm>
            <a:off x="548640" y="3063240"/>
            <a:ext cx="914400" cy="914400"/>
          </a:xfrm>
          <a:prstGeom prst="ellipse">
            <a:avLst/>
          </a:prstGeom>
          <a:solidFill>
            <a:srgbClr val="7C5CD6"/>
          </a:solidFill>
          <a:ln w="12700">
            <a:solidFill>
              <a:srgbClr val="7C5CD6"/>
            </a:solidFill>
            <a:prstDash val="solid"/>
          </a:ln>
        </p:spPr>
      </p:sp>
      <p:pic>
        <p:nvPicPr>
          <p:cNvPr id="8" name="Hard problem 2 icon" descr="preencoded.png">    </p:cNvPr>
          <p:cNvPicPr>
            <a:picLocks noChangeAspect="1"/>
          </p:cNvPicPr>
          <p:nvPr/>
        </p:nvPicPr>
        <p:blipFill>
          <a:blip r:embed="rId2"/>
          <a:stretch>
            <a:fillRect/>
          </a:stretch>
        </p:blipFill>
        <p:spPr>
          <a:xfrm>
            <a:off x="777240" y="3291840"/>
            <a:ext cx="457200" cy="457200"/>
          </a:xfrm>
          <a:prstGeom prst="rect">
            <a:avLst/>
          </a:prstGeom>
        </p:spPr>
      </p:pic>
      <p:sp>
        <p:nvSpPr>
          <p:cNvPr id="9" name="Hard problem 2 heading"/>
          <p:cNvSpPr txBox="1"/>
          <p:nvPr/>
        </p:nvSpPr>
        <p:spPr>
          <a:xfrm>
            <a:off x="1737360" y="2926080"/>
            <a:ext cx="3108960" cy="11887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Human behaviour</a:t>
            </a:r>
            <a:endParaRPr lang="en-US" sz="2200" dirty="0"/>
          </a:p>
        </p:txBody>
      </p:sp>
      <p:sp>
        <p:nvSpPr>
          <p:cNvPr id="10" name="Hard problem 2 text"/>
          <p:cNvSpPr txBox="1"/>
          <p:nvPr/>
        </p:nvSpPr>
        <p:spPr>
          <a:xfrm>
            <a:off x="4937760" y="2926080"/>
            <a:ext cx="6675120" cy="1188720"/>
          </a:xfrm>
          <a:prstGeom prst="rect">
            <a:avLst/>
          </a:prstGeom>
          <a:noFill/>
          <a:ln/>
        </p:spPr>
        <p:txBody>
          <a:bodyPr wrap="square" lIns="0" tIns="0" rIns="0" bIns="0" rtlCol="0" anchor="ctr"/>
          <a:lstStyle/>
          <a:p>
            <a:pPr indent="0" marL="0">
              <a:buNone/>
            </a:pPr>
            <a:r>
              <a:rPr lang="en-US" sz="1600" dirty="0">
                <a:solidFill>
                  <a:schemeClr val="tx2"/>
                </a:solidFill>
              </a:rPr>
              <a:t>The question becomes when a person should overrule the machine, and who sets the point at which it acts alone.</a:t>
            </a:r>
            <a:endParaRPr lang="en-US" sz="1600" dirty="0"/>
          </a:p>
        </p:txBody>
      </p:sp>
      <p:sp>
        <p:nvSpPr>
          <p:cNvPr id="11" name="Hard problem 3 circle"/>
          <p:cNvSpPr/>
          <p:nvPr/>
        </p:nvSpPr>
        <p:spPr>
          <a:xfrm>
            <a:off x="548640" y="4526280"/>
            <a:ext cx="914400" cy="914400"/>
          </a:xfrm>
          <a:prstGeom prst="ellipse">
            <a:avLst/>
          </a:prstGeom>
          <a:solidFill>
            <a:srgbClr val="1BAF7A"/>
          </a:solidFill>
          <a:ln w="12700">
            <a:solidFill>
              <a:srgbClr val="1BAF7A"/>
            </a:solidFill>
            <a:prstDash val="solid"/>
          </a:ln>
        </p:spPr>
      </p:sp>
      <p:pic>
        <p:nvPicPr>
          <p:cNvPr id="12" name="Hard problem 3 icon" descr="preencoded.png">    </p:cNvPr>
          <p:cNvPicPr>
            <a:picLocks noChangeAspect="1"/>
          </p:cNvPicPr>
          <p:nvPr/>
        </p:nvPicPr>
        <p:blipFill>
          <a:blip r:embed="rId3"/>
          <a:stretch>
            <a:fillRect/>
          </a:stretch>
        </p:blipFill>
        <p:spPr>
          <a:xfrm>
            <a:off x="777240" y="4754880"/>
            <a:ext cx="457200" cy="457200"/>
          </a:xfrm>
          <a:prstGeom prst="rect">
            <a:avLst/>
          </a:prstGeom>
        </p:spPr>
      </p:pic>
      <p:sp>
        <p:nvSpPr>
          <p:cNvPr id="13" name="Hard problem 3 heading"/>
          <p:cNvSpPr txBox="1"/>
          <p:nvPr/>
        </p:nvSpPr>
        <p:spPr>
          <a:xfrm>
            <a:off x="1737360" y="4389120"/>
            <a:ext cx="3108960" cy="11887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Resilient architectures</a:t>
            </a:r>
            <a:endParaRPr lang="en-US" sz="2200" dirty="0"/>
          </a:p>
        </p:txBody>
      </p:sp>
      <p:sp>
        <p:nvSpPr>
          <p:cNvPr id="14" name="Hard problem 3 text"/>
          <p:cNvSpPr txBox="1"/>
          <p:nvPr/>
        </p:nvSpPr>
        <p:spPr>
          <a:xfrm>
            <a:off x="4937760" y="4389120"/>
            <a:ext cx="6675120" cy="1188720"/>
          </a:xfrm>
          <a:prstGeom prst="rect">
            <a:avLst/>
          </a:prstGeom>
          <a:noFill/>
          <a:ln/>
        </p:spPr>
        <p:txBody>
          <a:bodyPr wrap="square" lIns="0" tIns="0" rIns="0" bIns="0" rtlCol="0" anchor="ctr"/>
          <a:lstStyle/>
          <a:p>
            <a:pPr indent="0" marL="0">
              <a:buNone/>
            </a:pPr>
            <a:r>
              <a:rPr lang="en-US" sz="1600" dirty="0">
                <a:solidFill>
                  <a:schemeClr val="tx2"/>
                </a:solidFill>
              </a:rPr>
              <a:t>With most exploitation before a patch exists, the aim moves from preventing compromise to limiting and recovering from it.</a:t>
            </a:r>
            <a:endParaRPr lang="en-US" sz="1600" dirty="0"/>
          </a:p>
        </p:txBody>
      </p:sp>
      <p:sp>
        <p:nvSpPr>
          <p:cNvPr id="15" name="Source not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000" i="1" dirty="0">
                <a:solidFill>
                  <a:schemeClr val="tx2"/>
                </a:solidFill>
              </a:rPr>
              <a:t>Hard problems from Nicol et al. (2012); reinforcement learning rebuild of Ridley (2018) in my Unit 11 e-portfolio.</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The rival trends are real, but each is being driven by automation</a:t>
            </a:r>
            <a:endParaRPr lang="en-US" sz="3200" dirty="0"/>
          </a:p>
        </p:txBody>
      </p:sp>
      <p:graphicFrame>
        <p:nvGraphicFramePr>
          <p:cNvPr id="8" name="Rebuttal table"/>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3931920"/>
                <a:gridCol w="43891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Rival trend</a:t>
                      </a:r>
                      <a:endParaRPr lang="en-US" sz="14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1B1F2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1B1F2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automation is the bigger influence</a:t>
                      </a:r>
                      <a:endParaRPr lang="en-US" sz="14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1B1F24"/>
                    </a:solidFill>
                  </a:tcPr>
                </a:tc>
              </a:tr>
              <a:tr h="868680">
                <a:tc>
                  <a:txBody>
                    <a:bodyPr/>
                    <a:lstStyle/>
                    <a:p>
                      <a:pPr indent="0" marL="0">
                        <a:buNone/>
                      </a:pPr>
                      <a:r>
                        <a:rPr lang="en-US" sz="1300" b="1" dirty="0">
                          <a:solidFill>
                            <a:srgbClr val="1B1F24"/>
                          </a:solidFill>
                          <a:latin typeface="Calibri" pitchFamily="34" charset="0"/>
                          <a:ea typeface="Calibri" pitchFamily="34" charset="-122"/>
                          <a:cs typeface="Calibri" pitchFamily="34" charset="-120"/>
                        </a:rPr>
                        <a:t>Supplier and cloud concentration</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1F2F0"/>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A few providers carry most firms’ risk; DORA and the CMA have acted on it</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1F2F0"/>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Concentration is how AI reaches most firms: their exposure and defence arrive in suppliers’ products</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1F2F0"/>
                    </a:solidFill>
                  </a:tcPr>
                </a:tc>
              </a:tr>
              <a:tr h="868680">
                <a:tc>
                  <a:txBody>
                    <a:bodyPr/>
                    <a:lstStyle/>
                    <a:p>
                      <a:pPr indent="0" marL="0">
                        <a:buNone/>
                      </a:pPr>
                      <a:r>
                        <a:rPr lang="en-US" sz="1300" b="1" dirty="0">
                          <a:solidFill>
                            <a:srgbClr val="1B1F24"/>
                          </a:solidFill>
                          <a:latin typeface="Calibri" pitchFamily="34" charset="0"/>
                          <a:ea typeface="Calibri" pitchFamily="34" charset="-122"/>
                          <a:cs typeface="Calibri" pitchFamily="34" charset="-120"/>
                        </a:rPr>
                        <a:t>Regulation and integrated governance</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NIS2, DORA and NIST CSF 2.0 put cyber risk on the board’s agenda</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Rules follow the threat; CSF 2.0’s Govern function is where ownership of automated decisions will sit</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FFFFF"/>
                    </a:solidFill>
                  </a:tcPr>
                </a:tc>
              </a:tr>
              <a:tr h="868680">
                <a:tc>
                  <a:txBody>
                    <a:bodyPr/>
                    <a:lstStyle/>
                    <a:p>
                      <a:pPr indent="0" marL="0">
                        <a:buNone/>
                      </a:pPr>
                      <a:r>
                        <a:rPr lang="en-US" sz="1300" b="1" dirty="0">
                          <a:solidFill>
                            <a:srgbClr val="1B1F24"/>
                          </a:solidFill>
                          <a:latin typeface="Calibri" pitchFamily="34" charset="0"/>
                          <a:ea typeface="Calibri" pitchFamily="34" charset="-122"/>
                          <a:cs typeface="Calibri" pitchFamily="34" charset="-120"/>
                        </a:rPr>
                        <a:t>Human factors</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1F2F0"/>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Social engineering and credential abuse remain leading routes in</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1F2F0"/>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AI makes phishing and impersonation cheaper and more convincing, so the human trend is accelerated by ours</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1F2F0"/>
                    </a:solidFill>
                  </a:tcPr>
                </a:tc>
              </a:tr>
              <a:tr h="868680">
                <a:tc>
                  <a:txBody>
                    <a:bodyPr/>
                    <a:lstStyle/>
                    <a:p>
                      <a:pPr indent="0" marL="0">
                        <a:buNone/>
                      </a:pPr>
                      <a:r>
                        <a:rPr lang="en-US" sz="1300" b="1" dirty="0">
                          <a:solidFill>
                            <a:srgbClr val="1B1F24"/>
                          </a:solidFill>
                          <a:latin typeface="Calibri" pitchFamily="34" charset="0"/>
                          <a:ea typeface="Calibri" pitchFamily="34" charset="-122"/>
                          <a:cs typeface="Calibri" pitchFamily="34" charset="-120"/>
                        </a:rPr>
                        <a:t>Post-quantum cryptography</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Migration is long and must start before a capable quantum computer exists</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FFFFF"/>
                    </a:solidFill>
                  </a:tcPr>
                </a:tc>
                <a:tc>
                  <a:txBody>
                    <a:bodyPr/>
                    <a:lstStyle/>
                    <a:p>
                      <a:pPr indent="0" marL="0">
                        <a:buNone/>
                      </a:pPr>
                      <a:r>
                        <a:rPr lang="en-US" sz="1300" dirty="0">
                          <a:solidFill>
                            <a:srgbClr val="1B1F24"/>
                          </a:solidFill>
                          <a:latin typeface="Calibri" pitchFamily="34" charset="0"/>
                          <a:ea typeface="Calibri" pitchFamily="34" charset="-122"/>
                          <a:cs typeface="Calibri" pitchFamily="34" charset="-120"/>
                        </a:rPr>
                        <a:t>A planned migration over a decade; it will not change most risk decisions within five years</a:t>
                      </a:r>
                      <a:endParaRPr lang="en-US" sz="1300" dirty="0">
                        <a:latin typeface="Calibri" charset="0"/>
                        <a:ea typeface="Calibri" charset="0"/>
                        <a:cs typeface="Calibri" charset="0"/>
                      </a:endParaRPr>
                    </a:p>
                  </a:txBody>
                  <a:tcPr marL="101600" marR="101600" marT="50800" marB="50800" anchor="ctr">
                    <a:lnL w="6350" cap="flat" cmpd="sng" algn="ctr">
                      <a:solidFill>
                        <a:srgbClr val="E4E3DF"/>
                      </a:solidFill>
                      <a:prstDash val="solid"/>
                      <a:round/>
                      <a:headEnd type="none" w="med" len="med"/>
                      <a:tailEnd type="none" w="med" len="med"/>
                    </a:lnL>
                    <a:lnR w="6350" cap="flat" cmpd="sng" algn="ctr">
                      <a:solidFill>
                        <a:srgbClr val="E4E3DF"/>
                      </a:solidFill>
                      <a:prstDash val="solid"/>
                      <a:round/>
                      <a:headEnd type="none" w="med" len="med"/>
                      <a:tailEnd type="none" w="med" len="med"/>
                    </a:lnR>
                    <a:lnT w="6350" cap="flat" cmpd="sng" algn="ctr">
                      <a:solidFill>
                        <a:srgbClr val="E4E3DF"/>
                      </a:solidFill>
                      <a:prstDash val="solid"/>
                      <a:round/>
                      <a:headEnd type="none" w="med" len="med"/>
                      <a:tailEnd type="none" w="med" len="med"/>
                    </a:lnT>
                    <a:lnB w="6350" cap="flat" cmpd="sng" algn="ctr">
                      <a:solidFill>
                        <a:srgbClr val="E4E3DF"/>
                      </a:solidFill>
                      <a:prstDash val="solid"/>
                      <a:round/>
                      <a:headEnd type="none" w="med" len="med"/>
                      <a:tailEnd type="none" w="med" len="med"/>
                    </a:lnB>
                    <a:solidFill>
                      <a:srgbClr val="FFFFFF"/>
                    </a:solidFill>
                  </a:tcPr>
                </a:tc>
              </a:tr>
            </a:tbl>
          </a:graphicData>
        </a:graphic>
      </p:graphicFrame>
      <p:sp>
        <p:nvSpPr>
          <p:cNvPr id="4" name="Source note"/>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000" i="1" dirty="0">
                <a:solidFill>
                  <a:schemeClr val="tx2"/>
                </a:solidFill>
              </a:rPr>
              <a:t>Sources: CMA (2025); Regulation (EU) 2022/2554; NIST (2024); Verizon (2025). My Unit 11 evaluation of six trends.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What we concede: the evidence is young and some of it is oversold</a:t>
            </a:r>
            <a:endParaRPr lang="en-US" sz="3200" dirty="0"/>
          </a:p>
        </p:txBody>
      </p:sp>
      <p:sp>
        <p:nvSpPr>
          <p:cNvPr id="3" name="Concession 1 card"/>
          <p:cNvSpPr/>
          <p:nvPr/>
        </p:nvSpPr>
        <p:spPr>
          <a:xfrm>
            <a:off x="548640" y="1600200"/>
            <a:ext cx="3520440" cy="3657600"/>
          </a:xfrm>
          <a:prstGeom prst="roundRect">
            <a:avLst>
              <a:gd name="adj" fmla="val 3117"/>
            </a:avLst>
          </a:prstGeom>
          <a:solidFill>
            <a:srgbClr val="F1F2F0"/>
          </a:solidFill>
          <a:ln w="12700">
            <a:solidFill>
              <a:srgbClr val="F1F2F0"/>
            </a:solidFill>
            <a:prstDash val="solid"/>
          </a:ln>
        </p:spPr>
      </p:sp>
      <p:sp>
        <p:nvSpPr>
          <p:cNvPr id="4" name="Concession 1 circle"/>
          <p:cNvSpPr/>
          <p:nvPr/>
        </p:nvSpPr>
        <p:spPr>
          <a:xfrm>
            <a:off x="868680" y="1920240"/>
            <a:ext cx="777240" cy="777240"/>
          </a:xfrm>
          <a:prstGeom prst="ellipse">
            <a:avLst/>
          </a:prstGeom>
          <a:solidFill>
            <a:srgbClr val="52514E"/>
          </a:solidFill>
          <a:ln w="12700">
            <a:solidFill>
              <a:srgbClr val="52514E"/>
            </a:solidFill>
            <a:prstDash val="solid"/>
          </a:ln>
        </p:spPr>
      </p:sp>
      <p:pic>
        <p:nvPicPr>
          <p:cNvPr id="5" name="Concession 1 icon" descr="preencoded.png">    </p:cNvPr>
          <p:cNvPicPr>
            <a:picLocks noChangeAspect="1"/>
          </p:cNvPicPr>
          <p:nvPr/>
        </p:nvPicPr>
        <p:blipFill>
          <a:blip r:embed="rId1"/>
          <a:stretch>
            <a:fillRect/>
          </a:stretch>
        </p:blipFill>
        <p:spPr>
          <a:xfrm>
            <a:off x="1062990" y="2114550"/>
            <a:ext cx="388620" cy="388620"/>
          </a:xfrm>
          <a:prstGeom prst="rect">
            <a:avLst/>
          </a:prstGeom>
        </p:spPr>
      </p:pic>
      <p:sp>
        <p:nvSpPr>
          <p:cNvPr id="6" name="Concession 1 heading"/>
          <p:cNvSpPr txBox="1"/>
          <p:nvPr/>
        </p:nvSpPr>
        <p:spPr>
          <a:xfrm>
            <a:off x="868680" y="2834640"/>
            <a:ext cx="2926080" cy="8229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Headline metrics mix populations</a:t>
            </a:r>
            <a:endParaRPr lang="en-US" sz="1900" dirty="0"/>
          </a:p>
        </p:txBody>
      </p:sp>
      <p:sp>
        <p:nvSpPr>
          <p:cNvPr id="7" name="Concession 1 text"/>
          <p:cNvSpPr txBox="1"/>
          <p:nvPr/>
        </p:nvSpPr>
        <p:spPr>
          <a:xfrm>
            <a:off x="868680" y="3703320"/>
            <a:ext cx="2926080" cy="1645920"/>
          </a:xfrm>
          <a:prstGeom prst="rect">
            <a:avLst/>
          </a:prstGeom>
          <a:noFill/>
          <a:ln/>
        </p:spPr>
        <p:txBody>
          <a:bodyPr wrap="square" lIns="0" tIns="0" rIns="0" bIns="0" rtlCol="0" anchor="t"/>
          <a:lstStyle/>
          <a:p>
            <a:pPr indent="0" marL="0">
              <a:buNone/>
            </a:pPr>
            <a:r>
              <a:rPr lang="en-US" sz="1500" dirty="0">
                <a:solidFill>
                  <a:schemeClr val="tx2"/>
                </a:solidFill>
              </a:rPr>
              <a:t>The mean time-to-exploit moves with the share of zero-days, not only with speed. Report the n-day curve and the zero-day share separately.</a:t>
            </a:r>
            <a:endParaRPr lang="en-US" sz="1500" dirty="0"/>
          </a:p>
        </p:txBody>
      </p:sp>
      <p:sp>
        <p:nvSpPr>
          <p:cNvPr id="8" name="Concession 2 card"/>
          <p:cNvSpPr/>
          <p:nvPr/>
        </p:nvSpPr>
        <p:spPr>
          <a:xfrm>
            <a:off x="4343400" y="1600200"/>
            <a:ext cx="3520440" cy="3657600"/>
          </a:xfrm>
          <a:prstGeom prst="roundRect">
            <a:avLst>
              <a:gd name="adj" fmla="val 3117"/>
            </a:avLst>
          </a:prstGeom>
          <a:solidFill>
            <a:srgbClr val="F1F2F0"/>
          </a:solidFill>
          <a:ln w="12700">
            <a:solidFill>
              <a:srgbClr val="F1F2F0"/>
            </a:solidFill>
            <a:prstDash val="solid"/>
          </a:ln>
        </p:spPr>
      </p:sp>
      <p:sp>
        <p:nvSpPr>
          <p:cNvPr id="9" name="Concession 2 circle"/>
          <p:cNvSpPr/>
          <p:nvPr/>
        </p:nvSpPr>
        <p:spPr>
          <a:xfrm>
            <a:off x="4663440" y="1920240"/>
            <a:ext cx="777240" cy="777240"/>
          </a:xfrm>
          <a:prstGeom prst="ellipse">
            <a:avLst/>
          </a:prstGeom>
          <a:solidFill>
            <a:srgbClr val="52514E"/>
          </a:solidFill>
          <a:ln w="12700">
            <a:solidFill>
              <a:srgbClr val="52514E"/>
            </a:solidFill>
            <a:prstDash val="solid"/>
          </a:ln>
        </p:spPr>
      </p:sp>
      <p:pic>
        <p:nvPicPr>
          <p:cNvPr id="10" name="Concession 2 icon" descr="preencoded.png">    </p:cNvPr>
          <p:cNvPicPr>
            <a:picLocks noChangeAspect="1"/>
          </p:cNvPicPr>
          <p:nvPr/>
        </p:nvPicPr>
        <p:blipFill>
          <a:blip r:embed="rId2"/>
          <a:stretch>
            <a:fillRect/>
          </a:stretch>
        </p:blipFill>
        <p:spPr>
          <a:xfrm>
            <a:off x="4857750" y="2114550"/>
            <a:ext cx="388620" cy="388620"/>
          </a:xfrm>
          <a:prstGeom prst="rect">
            <a:avLst/>
          </a:prstGeom>
        </p:spPr>
      </p:pic>
      <p:sp>
        <p:nvSpPr>
          <p:cNvPr id="11" name="Concession 2 heading"/>
          <p:cNvSpPr txBox="1"/>
          <p:nvPr/>
        </p:nvSpPr>
        <p:spPr>
          <a:xfrm>
            <a:off x="4663440" y="2834640"/>
            <a:ext cx="2926080" cy="8229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Few tests against simple baselines</a:t>
            </a:r>
            <a:endParaRPr lang="en-US" sz="1900" dirty="0"/>
          </a:p>
        </p:txBody>
      </p:sp>
      <p:sp>
        <p:nvSpPr>
          <p:cNvPr id="12" name="Concession 2 text"/>
          <p:cNvSpPr txBox="1"/>
          <p:nvPr/>
        </p:nvSpPr>
        <p:spPr>
          <a:xfrm>
            <a:off x="4663440" y="3703320"/>
            <a:ext cx="2926080" cy="1645920"/>
          </a:xfrm>
          <a:prstGeom prst="rect">
            <a:avLst/>
          </a:prstGeom>
          <a:noFill/>
          <a:ln/>
        </p:spPr>
        <p:txBody>
          <a:bodyPr wrap="square" lIns="0" tIns="0" rIns="0" bIns="0" rtlCol="0" anchor="t"/>
          <a:lstStyle/>
          <a:p>
            <a:pPr indent="0" marL="0">
              <a:buNone/>
            </a:pPr>
            <a:r>
              <a:rPr lang="en-US" sz="1500" dirty="0">
                <a:solidFill>
                  <a:schemeClr val="tx2"/>
                </a:solidFill>
              </a:rPr>
              <a:t>Ridley’s agent was never compared with a rule; when I compared it, the rule won. Claims of AI defence need the same test.</a:t>
            </a:r>
            <a:endParaRPr lang="en-US" sz="1500" dirty="0"/>
          </a:p>
        </p:txBody>
      </p:sp>
      <p:sp>
        <p:nvSpPr>
          <p:cNvPr id="13" name="Concession 3 card"/>
          <p:cNvSpPr/>
          <p:nvPr/>
        </p:nvSpPr>
        <p:spPr>
          <a:xfrm>
            <a:off x="8138160" y="1600200"/>
            <a:ext cx="3520440" cy="3657600"/>
          </a:xfrm>
          <a:prstGeom prst="roundRect">
            <a:avLst>
              <a:gd name="adj" fmla="val 3117"/>
            </a:avLst>
          </a:prstGeom>
          <a:solidFill>
            <a:srgbClr val="F1F2F0"/>
          </a:solidFill>
          <a:ln w="12700">
            <a:solidFill>
              <a:srgbClr val="F1F2F0"/>
            </a:solidFill>
            <a:prstDash val="solid"/>
          </a:ln>
        </p:spPr>
      </p:sp>
      <p:sp>
        <p:nvSpPr>
          <p:cNvPr id="14" name="Concession 3 circle"/>
          <p:cNvSpPr/>
          <p:nvPr/>
        </p:nvSpPr>
        <p:spPr>
          <a:xfrm>
            <a:off x="8458200" y="1920240"/>
            <a:ext cx="777240" cy="777240"/>
          </a:xfrm>
          <a:prstGeom prst="ellipse">
            <a:avLst/>
          </a:prstGeom>
          <a:solidFill>
            <a:srgbClr val="52514E"/>
          </a:solidFill>
          <a:ln w="12700">
            <a:solidFill>
              <a:srgbClr val="52514E"/>
            </a:solidFill>
            <a:prstDash val="solid"/>
          </a:ln>
        </p:spPr>
      </p:sp>
      <p:pic>
        <p:nvPicPr>
          <p:cNvPr id="15" name="Concession 3 icon" descr="preencoded.png">    </p:cNvPr>
          <p:cNvPicPr>
            <a:picLocks noChangeAspect="1"/>
          </p:cNvPicPr>
          <p:nvPr/>
        </p:nvPicPr>
        <p:blipFill>
          <a:blip r:embed="rId3"/>
          <a:stretch>
            <a:fillRect/>
          </a:stretch>
        </p:blipFill>
        <p:spPr>
          <a:xfrm>
            <a:off x="8652510" y="2114550"/>
            <a:ext cx="388620" cy="388620"/>
          </a:xfrm>
          <a:prstGeom prst="rect">
            <a:avLst/>
          </a:prstGeom>
        </p:spPr>
      </p:pic>
      <p:sp>
        <p:nvSpPr>
          <p:cNvPr id="16" name="Concession 3 heading"/>
          <p:cNvSpPr txBox="1"/>
          <p:nvPr/>
        </p:nvSpPr>
        <p:spPr>
          <a:xfrm>
            <a:off x="8458200" y="2834640"/>
            <a:ext cx="2926080" cy="8229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AI attackers still make mistakes</a:t>
            </a:r>
            <a:endParaRPr lang="en-US" sz="1900" dirty="0"/>
          </a:p>
        </p:txBody>
      </p:sp>
      <p:sp>
        <p:nvSpPr>
          <p:cNvPr id="17" name="Concession 3 text"/>
          <p:cNvSpPr txBox="1"/>
          <p:nvPr/>
        </p:nvSpPr>
        <p:spPr>
          <a:xfrm>
            <a:off x="8458200" y="3703320"/>
            <a:ext cx="2926080" cy="1645920"/>
          </a:xfrm>
          <a:prstGeom prst="rect">
            <a:avLst/>
          </a:prstGeom>
          <a:noFill/>
          <a:ln/>
        </p:spPr>
        <p:txBody>
          <a:bodyPr wrap="square" lIns="0" tIns="0" rIns="0" bIns="0" rtlCol="0" anchor="t"/>
          <a:lstStyle/>
          <a:p>
            <a:pPr indent="0" marL="0">
              <a:buNone/>
            </a:pPr>
            <a:r>
              <a:rPr lang="en-US" sz="1500" dirty="0">
                <a:solidFill>
                  <a:schemeClr val="tx2"/>
                </a:solidFill>
              </a:rPr>
              <a:t>Anthropic reports hallucinated credentials. Today’s automation is fast and broad, not reliably clever.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1005840"/>
          </a:xfrm>
          <a:prstGeom prst="rect">
            <a:avLst/>
          </a:prstGeom>
          <a:noFill/>
          <a:ln/>
        </p:spPr>
        <p:txBody>
          <a:bodyPr wrap="square" lIns="0" tIns="0" rIns="0" bIns="0" rtlCol="0" anchor="ctr"/>
          <a:lstStyle/>
          <a:p>
            <a:pPr algn="l" indent="0" marL="0">
              <a:buNone/>
            </a:pPr>
            <a:r>
              <a:rPr lang="en-US" sz="3400" b="1" dirty="0">
                <a:solidFill>
                  <a:schemeClr val="bg1"/>
                </a:solidFill>
              </a:rPr>
              <a:t>Vote for AI-enabled automation, and for governing it</a:t>
            </a:r>
            <a:endParaRPr lang="en-US" sz="3400" dirty="0"/>
          </a:p>
        </p:txBody>
      </p:sp>
      <p:sp>
        <p:nvSpPr>
          <p:cNvPr id="3" name="Ask 1 circle"/>
          <p:cNvSpPr/>
          <p:nvPr/>
        </p:nvSpPr>
        <p:spPr>
          <a:xfrm>
            <a:off x="548640" y="2286000"/>
            <a:ext cx="822960" cy="822960"/>
          </a:xfrm>
          <a:prstGeom prst="ellipse">
            <a:avLst/>
          </a:prstGeom>
          <a:solidFill>
            <a:srgbClr val="EB6834"/>
          </a:solidFill>
          <a:ln w="12700">
            <a:solidFill>
              <a:srgbClr val="EB6834"/>
            </a:solidFill>
            <a:prstDash val="solid"/>
          </a:ln>
        </p:spPr>
      </p:sp>
      <p:sp>
        <p:nvSpPr>
          <p:cNvPr id="4" name="Ask 1 number"/>
          <p:cNvSpPr txBox="1"/>
          <p:nvPr/>
        </p:nvSpPr>
        <p:spPr>
          <a:xfrm>
            <a:off x="548640" y="228600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a:t>
            </a:r>
            <a:endParaRPr lang="en-US" sz="2800" dirty="0"/>
          </a:p>
        </p:txBody>
      </p:sp>
      <p:sp>
        <p:nvSpPr>
          <p:cNvPr id="5" name="Ask 1 heading"/>
          <p:cNvSpPr txBox="1"/>
          <p:nvPr/>
        </p:nvSpPr>
        <p:spPr>
          <a:xfrm>
            <a:off x="548640" y="3337560"/>
            <a:ext cx="3474720" cy="54864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Measure it</a:t>
            </a:r>
            <a:endParaRPr lang="en-US" sz="2400" dirty="0"/>
          </a:p>
        </p:txBody>
      </p:sp>
      <p:sp>
        <p:nvSpPr>
          <p:cNvPr id="6" name="Ask 1 text"/>
          <p:cNvSpPr txBox="1"/>
          <p:nvPr/>
        </p:nvSpPr>
        <p:spPr>
          <a:xfrm>
            <a:off x="548640" y="3977640"/>
            <a:ext cx="3383280" cy="1645920"/>
          </a:xfrm>
          <a:prstGeom prst="rect">
            <a:avLst/>
          </a:prstGeom>
          <a:noFill/>
          <a:ln/>
        </p:spPr>
        <p:txBody>
          <a:bodyPr wrap="square" lIns="0" tIns="0" rIns="0" bIns="0" rtlCol="0" anchor="t"/>
          <a:lstStyle/>
          <a:p>
            <a:pPr indent="0" marL="0">
              <a:buNone/>
            </a:pPr>
            <a:r>
              <a:rPr lang="en-US" sz="1600" dirty="0">
                <a:solidFill>
                  <a:schemeClr val="bg2"/>
                </a:solidFill>
              </a:rPr>
              <a:t>Ask what baseline any AI detection or response rate was measured against.</a:t>
            </a:r>
            <a:endParaRPr lang="en-US" sz="1600" dirty="0"/>
          </a:p>
        </p:txBody>
      </p:sp>
      <p:sp>
        <p:nvSpPr>
          <p:cNvPr id="7" name="Ask 2 circle"/>
          <p:cNvSpPr/>
          <p:nvPr/>
        </p:nvSpPr>
        <p:spPr>
          <a:xfrm>
            <a:off x="4343400" y="2286000"/>
            <a:ext cx="822960" cy="822960"/>
          </a:xfrm>
          <a:prstGeom prst="ellipse">
            <a:avLst/>
          </a:prstGeom>
          <a:solidFill>
            <a:srgbClr val="EB6834"/>
          </a:solidFill>
          <a:ln w="12700">
            <a:solidFill>
              <a:srgbClr val="EB6834"/>
            </a:solidFill>
            <a:prstDash val="solid"/>
          </a:ln>
        </p:spPr>
      </p:sp>
      <p:sp>
        <p:nvSpPr>
          <p:cNvPr id="8" name="Ask 2 number"/>
          <p:cNvSpPr txBox="1"/>
          <p:nvPr/>
        </p:nvSpPr>
        <p:spPr>
          <a:xfrm>
            <a:off x="4343400" y="228600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2</a:t>
            </a:r>
            <a:endParaRPr lang="en-US" sz="2800" dirty="0"/>
          </a:p>
        </p:txBody>
      </p:sp>
      <p:sp>
        <p:nvSpPr>
          <p:cNvPr id="9" name="Ask 2 heading"/>
          <p:cNvSpPr txBox="1"/>
          <p:nvPr/>
        </p:nvSpPr>
        <p:spPr>
          <a:xfrm>
            <a:off x="4343400" y="3337560"/>
            <a:ext cx="3474720" cy="54864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Own it</a:t>
            </a:r>
            <a:endParaRPr lang="en-US" sz="2400" dirty="0"/>
          </a:p>
        </p:txBody>
      </p:sp>
      <p:sp>
        <p:nvSpPr>
          <p:cNvPr id="10" name="Ask 2 text"/>
          <p:cNvSpPr txBox="1"/>
          <p:nvPr/>
        </p:nvSpPr>
        <p:spPr>
          <a:xfrm>
            <a:off x="4343400" y="3977640"/>
            <a:ext cx="3383280" cy="1645920"/>
          </a:xfrm>
          <a:prstGeom prst="rect">
            <a:avLst/>
          </a:prstGeom>
          <a:noFill/>
          <a:ln/>
        </p:spPr>
        <p:txBody>
          <a:bodyPr wrap="square" lIns="0" tIns="0" rIns="0" bIns="0" rtlCol="0" anchor="t"/>
          <a:lstStyle/>
          <a:p>
            <a:pPr indent="0" marL="0">
              <a:buNone/>
            </a:pPr>
            <a:r>
              <a:rPr lang="en-US" sz="1600" dirty="0">
                <a:solidFill>
                  <a:schemeClr val="bg2"/>
                </a:solidFill>
              </a:rPr>
              <a:t>Give every automated rule, threshold and reward a named owner, as a risk decision.</a:t>
            </a:r>
            <a:endParaRPr lang="en-US" sz="1600" dirty="0"/>
          </a:p>
        </p:txBody>
      </p:sp>
      <p:sp>
        <p:nvSpPr>
          <p:cNvPr id="11" name="Ask 3 circle"/>
          <p:cNvSpPr/>
          <p:nvPr/>
        </p:nvSpPr>
        <p:spPr>
          <a:xfrm>
            <a:off x="8138160" y="2286000"/>
            <a:ext cx="822960" cy="822960"/>
          </a:xfrm>
          <a:prstGeom prst="ellipse">
            <a:avLst/>
          </a:prstGeom>
          <a:solidFill>
            <a:srgbClr val="EB6834"/>
          </a:solidFill>
          <a:ln w="12700">
            <a:solidFill>
              <a:srgbClr val="EB6834"/>
            </a:solidFill>
            <a:prstDash val="solid"/>
          </a:ln>
        </p:spPr>
      </p:sp>
      <p:sp>
        <p:nvSpPr>
          <p:cNvPr id="12" name="Ask 3 number"/>
          <p:cNvSpPr txBox="1"/>
          <p:nvPr/>
        </p:nvSpPr>
        <p:spPr>
          <a:xfrm>
            <a:off x="8138160" y="2286000"/>
            <a:ext cx="822960" cy="82296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3</a:t>
            </a:r>
            <a:endParaRPr lang="en-US" sz="2800" dirty="0"/>
          </a:p>
        </p:txBody>
      </p:sp>
      <p:sp>
        <p:nvSpPr>
          <p:cNvPr id="13" name="Ask 3 heading"/>
          <p:cNvSpPr txBox="1"/>
          <p:nvPr/>
        </p:nvSpPr>
        <p:spPr>
          <a:xfrm>
            <a:off x="8138160" y="3337560"/>
            <a:ext cx="3474720" cy="54864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Survive it</a:t>
            </a:r>
            <a:endParaRPr lang="en-US" sz="2400" dirty="0"/>
          </a:p>
        </p:txBody>
      </p:sp>
      <p:sp>
        <p:nvSpPr>
          <p:cNvPr id="14" name="Ask 3 text"/>
          <p:cNvSpPr txBox="1"/>
          <p:nvPr/>
        </p:nvSpPr>
        <p:spPr>
          <a:xfrm>
            <a:off x="8138160" y="3977640"/>
            <a:ext cx="3383280" cy="1645920"/>
          </a:xfrm>
          <a:prstGeom prst="rect">
            <a:avLst/>
          </a:prstGeom>
          <a:noFill/>
          <a:ln/>
        </p:spPr>
        <p:txBody>
          <a:bodyPr wrap="square" lIns="0" tIns="0" rIns="0" bIns="0" rtlCol="0" anchor="t"/>
          <a:lstStyle/>
          <a:p>
            <a:pPr indent="0" marL="0">
              <a:buNone/>
            </a:pPr>
            <a:r>
              <a:rPr lang="en-US" sz="1600" dirty="0">
                <a:solidFill>
                  <a:schemeClr val="bg2"/>
                </a:solidFill>
              </a:rPr>
              <a:t>Plan for compromise before a patch exists: contain, detect and restore from a copy attackers cannot reach.</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CFC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ctr"/>
          <a:lstStyle/>
          <a:p>
            <a:pPr algn="l" indent="0" marL="0">
              <a:buNone/>
            </a:pPr>
            <a:r>
              <a:rPr lang="en-US" sz="3200" b="1" dirty="0">
                <a:solidFill>
                  <a:schemeClr val="tx1"/>
                </a:solidFill>
              </a:rPr>
              <a:t>Sources</a:t>
            </a:r>
            <a:endParaRPr lang="en-US" sz="3200" dirty="0"/>
          </a:p>
        </p:txBody>
      </p:sp>
      <p:sp>
        <p:nvSpPr>
          <p:cNvPr id="3" name="Reference list"/>
          <p:cNvSpPr txBox="1"/>
          <p:nvPr/>
        </p:nvSpPr>
        <p:spPr>
          <a:xfrm>
            <a:off x="548640" y="1371600"/>
            <a:ext cx="11064240" cy="475488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Anthropic (2025) Disrupting the first reported AI-orchestrated cyber espionage campaign, 13 November.</a:t>
            </a:r>
            <a:endParaRPr lang="en-US" sz="1300" dirty="0"/>
          </a:p>
          <a:p>
            <a:pPr indent="0" marL="0">
              <a:spcAft>
                <a:spcPts val="400"/>
              </a:spcAft>
              <a:buNone/>
            </a:pPr>
            <a:r>
              <a:rPr lang="en-US" sz="1300" dirty="0">
                <a:solidFill>
                  <a:schemeClr val="tx1"/>
                </a:solidFill>
              </a:rPr>
              <a:t>Charrier, C. and Weiner, R. (2024) How low can you go? An analysis of 2023 time-to-exploit trends. Google Cloud / Mandiant, 15 October.</a:t>
            </a:r>
            <a:endParaRPr lang="en-US" sz="1300" dirty="0"/>
          </a:p>
          <a:p>
            <a:pPr indent="0" marL="0">
              <a:spcAft>
                <a:spcPts val="400"/>
              </a:spcAft>
              <a:buNone/>
            </a:pPr>
            <a:r>
              <a:rPr lang="en-US" sz="1300" dirty="0">
                <a:solidFill>
                  <a:schemeClr val="tx1"/>
                </a:solidFill>
              </a:rPr>
              <a:t>Competition and Markets Authority (2025) Cloud services market investigation: summary of final decision, 31 July.</a:t>
            </a:r>
            <a:endParaRPr lang="en-US" sz="1300" dirty="0"/>
          </a:p>
          <a:p>
            <a:pPr indent="0" marL="0">
              <a:spcAft>
                <a:spcPts val="400"/>
              </a:spcAft>
              <a:buNone/>
            </a:pPr>
            <a:r>
              <a:rPr lang="en-US" sz="1300" dirty="0">
                <a:solidFill>
                  <a:schemeClr val="tx1"/>
                </a:solidFill>
              </a:rPr>
              <a:t>Kutscher, J. (2026) M-Trends 2026: data, insights, and strategies from the frontlines. Google Cloud, 23 March.</a:t>
            </a:r>
            <a:endParaRPr lang="en-US" sz="1300" dirty="0"/>
          </a:p>
          <a:p>
            <a:pPr indent="0" marL="0">
              <a:spcAft>
                <a:spcPts val="400"/>
              </a:spcAft>
              <a:buNone/>
            </a:pPr>
            <a:r>
              <a:rPr lang="en-US" sz="1300" dirty="0">
                <a:solidFill>
                  <a:schemeClr val="tx1"/>
                </a:solidFill>
              </a:rPr>
              <a:t>National Cyber Security Centre (2025) Impact of AI on cyber threat from now to 2027, 7 May.</a:t>
            </a:r>
            <a:endParaRPr lang="en-US" sz="1300" dirty="0"/>
          </a:p>
          <a:p>
            <a:pPr indent="0" marL="0">
              <a:spcAft>
                <a:spcPts val="400"/>
              </a:spcAft>
              <a:buNone/>
            </a:pPr>
            <a:r>
              <a:rPr lang="en-US" sz="1300" dirty="0">
                <a:solidFill>
                  <a:schemeClr val="tx1"/>
                </a:solidFill>
              </a:rPr>
              <a:t>Nicol, D.M., Sanders, W.H., Scherlis, W.L. and Williams, L.A. (2012) Science of security hard problems: a lablet perspective. Science of Security Virtual Organization.</a:t>
            </a:r>
            <a:endParaRPr lang="en-US" sz="1300" dirty="0"/>
          </a:p>
          <a:p>
            <a:pPr indent="0" marL="0">
              <a:spcAft>
                <a:spcPts val="400"/>
              </a:spcAft>
              <a:buNone/>
            </a:pPr>
            <a:r>
              <a:rPr lang="en-US" sz="1300" dirty="0">
                <a:solidFill>
                  <a:schemeClr val="tx1"/>
                </a:solidFill>
              </a:rPr>
              <a:t>NIST (2024) The NIST Cybersecurity Framework (CSF) 2.0. NIST CSWP 29.</a:t>
            </a:r>
            <a:endParaRPr lang="en-US" sz="1300" dirty="0"/>
          </a:p>
          <a:p>
            <a:pPr indent="0" marL="0">
              <a:spcAft>
                <a:spcPts val="400"/>
              </a:spcAft>
              <a:buNone/>
            </a:pPr>
            <a:r>
              <a:rPr lang="en-US" sz="1300" dirty="0">
                <a:solidFill>
                  <a:schemeClr val="tx1"/>
                </a:solidFill>
              </a:rPr>
              <a:t>Regulation (EU) 2022/2554 on digital operational resilience for the financial sector (DORA).</a:t>
            </a:r>
            <a:endParaRPr lang="en-US" sz="1300" dirty="0"/>
          </a:p>
          <a:p>
            <a:pPr indent="0" marL="0">
              <a:spcAft>
                <a:spcPts val="400"/>
              </a:spcAft>
              <a:buNone/>
            </a:pPr>
            <a:r>
              <a:rPr lang="en-US" sz="1300" dirty="0">
                <a:solidFill>
                  <a:schemeClr val="tx1"/>
                </a:solidFill>
              </a:rPr>
              <a:t>Ridley, A. (2018) ‘Machine learning for autonomous cyber defense’, The Next Wave, 22(1), pp. 7–14.</a:t>
            </a:r>
            <a:endParaRPr lang="en-US" sz="1300" dirty="0"/>
          </a:p>
          <a:p>
            <a:pPr indent="0" marL="0">
              <a:spcAft>
                <a:spcPts val="400"/>
              </a:spcAft>
              <a:buNone/>
            </a:pPr>
            <a:r>
              <a:rPr lang="en-US" sz="1300" dirty="0">
                <a:solidFill>
                  <a:schemeClr val="tx1"/>
                </a:solidFill>
              </a:rPr>
              <a:t>Verizon (2025) 2025 Data Breach Investigations Report.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Great Debate">
  <a:themeElements>
    <a:clrScheme name="Great Debate">
      <a:dk1>
        <a:srgbClr val="1B1F24"/>
      </a:dk1>
      <a:lt1>
        <a:srgbClr val="FFFFFF"/>
      </a:lt1>
      <a:dk2>
        <a:srgbClr val="52514E"/>
      </a:dk2>
      <a:lt2>
        <a:srgbClr val="F1F2F0"/>
      </a:lt2>
      <a:accent1>
        <a:srgbClr val="EB6834"/>
      </a:accent1>
      <a:accent2>
        <a:srgbClr val="1BAF7A"/>
      </a:accent2>
      <a:accent3>
        <a:srgbClr val="C23B3B"/>
      </a:accent3>
      <a:accent4>
        <a:srgbClr val="7C5CD6"/>
      </a:accent4>
      <a:accent5>
        <a:srgbClr val="2A78D6"/>
      </a:accent5>
      <a:accent6>
        <a:srgbClr val="8A8984"/>
      </a:accent6>
      <a:hlink>
        <a:srgbClr val="2A78D6"/>
      </a:hlink>
      <a:folHlink>
        <a:srgbClr val="7C5CD6"/>
      </a:folHlink>
    </a:clrScheme>
    <a:fontScheme name="Great Deb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Great Debate: AI-enabled automation</dc:title>
  <dc:subject>Security and Risk Management, Unit 12</dc:subject>
  <dc:creator>Ian Stevens</dc:creator>
  <cp:lastModifiedBy>Ian Stevens</cp:lastModifiedBy>
  <cp:revision>1</cp:revision>
  <dcterms:created xsi:type="dcterms:W3CDTF">2026-10-03T18:38:39Z</dcterms:created>
  <dcterms:modified xsi:type="dcterms:W3CDTF">2026-10-03T18:38:39Z</dcterms:modified>
</cp:coreProperties>
</file>